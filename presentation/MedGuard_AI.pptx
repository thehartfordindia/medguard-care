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1C9"/>
                </a:solidFill>
                <a:latin typeface="Calibri"/>
              </a:rPr>
              <a:t>THE HARTFORD  ·  AI / ML /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MedGuard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BD5E1"/>
                </a:solidFill>
                <a:latin typeface="Calibri"/>
              </a:rPr>
              <a:t>Intelligent Claim Intelligence — powered by AI-Augmented Risk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2194560" cy="457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 reusable AI pattern for Middle &amp; Large Commercial and Group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Presented by  ·  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Hackathon 2026  ·  Internal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What we'll cover in the next five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813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Our line of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Why Middle &amp; Large Commercial cares about claim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76272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945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42032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The dollar value of catching risk earlier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89504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0779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MedGuard AI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5526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Four modules, one pipeline, zero vendor lock-in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02736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02736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21024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Who uses it &amp; 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68496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Personas, day-in-the-life, and three concrete use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15968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15968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34256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Live demonstration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81728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JARVIS · GARMA · NotebookLM · multilingual voice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29200"/>
            <a:ext cx="777240" cy="594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7772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047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Hartford applications &amp; path to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94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From hackathon prototype to enterprise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OUR LINE OF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Middle &amp; Large Commercial and Group Benefits at The Hartford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57600" cy="10972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Middle &amp; Large Commercial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Property · Liability · Workers' Comp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Mid-market employers ($25M – $1B revenue)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Fortune-1000 risk programs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Loss-control &amp; claim-cost reduction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Medical evidence drives WC severity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657600" cy="10972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Group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Disability · Absence · Group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32004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#2 U.S. carrier in group disability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Short-term, long-term, FMLA, leave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Return-to-work outcomes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Clinical evidence reviewed by nurses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630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463040"/>
            <a:ext cx="36576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Specialty &amp;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40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Underwriting · Specialty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32004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APS / MIB / IME document workflows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Mortality and morbidity scoring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Manual review = bottleneck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E4002B"/>
                </a:solidFill>
                <a:latin typeface="Calibri"/>
              </a:rPr>
              <a:t>▌  </a:t>
            </a:r>
            <a:r>
              <a:rPr sz="1300">
                <a:solidFill>
                  <a:srgbClr val="1F2937"/>
                </a:solidFill>
                <a:latin typeface="Calibri"/>
              </a:rPr>
              <a:t>Opportunity for AI acceleration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85855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79008"/>
            <a:ext cx="1082009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All three lines share one truth — the signal is buried in unstructured medical 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What earlier risk detection is worth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3931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INDUSTRY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120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FFFFF"/>
                </a:solidFill>
                <a:latin typeface="Calibri"/>
              </a:rPr>
              <a:t>$15 – 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Calibri"/>
              </a:rPr>
              <a:t>Annual value of a 1% reduction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short-term to long-term disability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Source: industry analysis, top-3 U.S. group disability carrier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03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A2540"/>
                </a:solidFill>
                <a:latin typeface="Calibri"/>
              </a:rPr>
              <a:t>Today's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30352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Nurse case managers read records sequentially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Drug-interaction red flags surface after escalation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Underwriters spend 30–60 min per APS letter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Multilingual members get English-only service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Risk indicators sit in unstructured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074920"/>
            <a:ext cx="5303520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16636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MedGuard AI gives every reviewer an AI co-pilot —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risk surfaces in seconds, not days.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Four modules · one pipeline · zero proprietary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1554480"/>
            <a:ext cx="2057400" cy="12801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1737360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📄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2331720"/>
            <a:ext cx="1874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FHIR-style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5427" y="201168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2587" y="1554480"/>
            <a:ext cx="2057400" cy="12801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027" y="1737360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🤖  JARVIS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4027" y="2331720"/>
            <a:ext cx="1874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NL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9987" y="201168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7147" y="1554480"/>
            <a:ext cx="2057400" cy="12801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8587" y="1737360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📊  NotebookLM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8587" y="2331720"/>
            <a:ext cx="1874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Vector search /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4547" y="201168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1707" y="1554480"/>
            <a:ext cx="205740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3147" y="1737360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🛡️  GARMA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147" y="2331720"/>
            <a:ext cx="1874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Risk scoring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9107" y="201168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6267" y="1554480"/>
            <a:ext cx="2057400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7707" y="1737360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📈  Cockpit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7707" y="2331720"/>
            <a:ext cx="1874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Streamlit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46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What each module does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11185855" cy="3840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58184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📄  Data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758184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FHIR / HL7 inspired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758184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250 synthetic patients · Pydantic-validated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87368"/>
            <a:ext cx="11185855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4223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🤖  JARVIS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142232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AI-Augmented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42232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Plain-English queries · clinical taxonomy match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71416"/>
            <a:ext cx="11185855" cy="3840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262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🛡️  GARMA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52628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GenAI Risk Mitigation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52628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6-factor risk score · drug interactions · anomalies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855464"/>
            <a:ext cx="11185855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10328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📊  NotebookLM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91032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Google NotebookLM-style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10328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FAISS + sentence-transformers · semantic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239512"/>
            <a:ext cx="11185855" cy="3840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94376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📈  Cockpit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294376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Streamlit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94376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KPIs · alerts · 19-language voice · clinician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WHO USES MEDGUARD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Four personas across Hartford — every one of them reads medical text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64592" cy="22402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4002B"/>
                </a:solidFill>
                <a:latin typeface="Calibri"/>
              </a:rPr>
              <a:t>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2540"/>
                </a:solidFill>
                <a:latin typeface="Calibri"/>
              </a:rPr>
              <a:t>Nurse Case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6596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Group Benefits —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0487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Today: reads 40-page records sequentially.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4002B"/>
                </a:solidFill>
                <a:latin typeface="Calibri"/>
              </a:rPr>
              <a:t>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53512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With MedGuard: ranked work queue + auto-flagged drug interactions.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417320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417320"/>
            <a:ext cx="164592" cy="22402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8191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A2540"/>
                </a:solidFill>
                <a:latin typeface="Calibri"/>
              </a:rP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6002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2540"/>
                </a:solidFill>
                <a:latin typeface="Calibri"/>
              </a:rPr>
              <a:t>Claim 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96596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Workers'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4231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40487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Today: no clinical training, must set reserves.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971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A2540"/>
                </a:solidFill>
                <a:latin typeface="Calibri"/>
              </a:rPr>
              <a:t>WITH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953512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With MedGuard: plain-English risk score + 'why' explanation.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22192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22192"/>
            <a:ext cx="164592" cy="2240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86784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B8A6"/>
                </a:solidFill>
                <a:latin typeface="Calibri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005072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2540"/>
                </a:solidFill>
                <a:latin typeface="Calibri"/>
              </a:rPr>
              <a:t>Underwriter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37083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Life / Specialty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809744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Today: 30 – 60 min per APS letter, manual.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4B8A6"/>
                </a:solidFill>
                <a:latin typeface="Calibri"/>
              </a:rPr>
              <a:t>WITH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358384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With MedGuard: ask APS questions, get cited paragraph answers.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6792" y="3822192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36792" y="3822192"/>
            <a:ext cx="164592" cy="2240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986784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59E0B"/>
                </a:solidFill>
                <a:latin typeface="Calibri"/>
              </a:rPr>
              <a:t>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4005072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2540"/>
                </a:solidFill>
                <a:latin typeface="Calibri"/>
              </a:rPr>
              <a:t>Member-Services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437083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Group Benefits / WC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8280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4809744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7"/>
                </a:solidFill>
                <a:latin typeface="Calibri"/>
              </a:rPr>
              <a:t>Today: English-only callbacks, escalate to interpreter.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53766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WITH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6952" y="5358384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With MedGuard: instant voice reply in 19 languages.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LIVE DEMONSTRATION  · 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Population cockpit — every claim, every risk, one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974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A2540"/>
                </a:solidFill>
                <a:latin typeface="Calibri"/>
              </a:rPr>
              <a:t>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937"/>
                </a:solidFill>
                <a:latin typeface="Calibri"/>
              </a:rPr>
              <a:t>Patients monitored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synthetic FHIR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6974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A2540"/>
                </a:solidFill>
                <a:latin typeface="Calibri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231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937"/>
                </a:solidFill>
                <a:latin typeface="Calibri"/>
              </a:rPr>
              <a:t>Critical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GARMA-flagged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630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6304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A2540"/>
                </a:solidFill>
                <a:latin typeface="Calibr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937"/>
                </a:solidFill>
                <a:latin typeface="Calibri"/>
              </a:rPr>
              <a:t>Drug interactions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severe / moderate 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463040"/>
            <a:ext cx="2697480" cy="7315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69164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A2540"/>
                </a:solidFill>
                <a:latin typeface="Calibri"/>
              </a:rPr>
              <a:t>32 %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231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2937"/>
                </a:solidFill>
                <a:latin typeface="Calibri"/>
              </a:rPr>
              <a:t>Average risk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7432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across full population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20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What you'll see on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23360"/>
            <a:ext cx="109728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Glassmorphism KPI cards — at-a-glance population health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Live critical-alerts feed — SOC-style risk console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Risk-distribution donut + age vs risk scatter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E4002B"/>
                </a:solidFill>
                <a:latin typeface="Calibri"/>
              </a:rPr>
              <a:t>▌  </a:t>
            </a:r>
            <a:r>
              <a:rPr sz="1500">
                <a:solidFill>
                  <a:srgbClr val="1F2937"/>
                </a:solidFill>
                <a:latin typeface="Calibri"/>
              </a:rPr>
              <a:t>One-click drill-down to any flagged patient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LIVE DEMONSTRATION  · 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JARVIS — natural-language clinical querying with multilingual 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6692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“Find high-risk elderly patients on warfarin.”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5303520" cy="36576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Calibri"/>
              </a:rPr>
              <a:t>JARVIS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✓ Found 10 matching patients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✓ 7 flagged HIGH risk by GARMA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✓ 3 with active drug-interaction warnings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✓ Avg relevance score: 0.87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Top match — Brian Yang, 71M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Insulin · Amiodarone · Warfarin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Risk: 91 % · Bleeding-risk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21208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4002B"/>
                </a:solidFill>
                <a:latin typeface="Calibri"/>
              </a:rPr>
              <a:t>▌  </a:t>
            </a:r>
            <a:r>
              <a:rPr sz="1400">
                <a:solidFill>
                  <a:srgbClr val="1F2937"/>
                </a:solidFill>
                <a:latin typeface="Calibri"/>
              </a:rPr>
              <a:t>Plain-English clinical queries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4002B"/>
                </a:solidFill>
                <a:latin typeface="Calibri"/>
              </a:rPr>
              <a:t>▌  </a:t>
            </a:r>
            <a:r>
              <a:rPr sz="1400">
                <a:solidFill>
                  <a:srgbClr val="1F2937"/>
                </a:solidFill>
                <a:latin typeface="Calibri"/>
              </a:rPr>
              <a:t>Keyword + clinical-taxonomy match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4002B"/>
                </a:solidFill>
                <a:latin typeface="Calibri"/>
              </a:rPr>
              <a:t>▌  </a:t>
            </a:r>
            <a:r>
              <a:rPr sz="1400">
                <a:solidFill>
                  <a:srgbClr val="1F2937"/>
                </a:solidFill>
                <a:latin typeface="Calibri"/>
              </a:rPr>
              <a:t>Sub-second response · runs offline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4002B"/>
                </a:solidFill>
                <a:latin typeface="Calibri"/>
              </a:rPr>
              <a:t>▌  </a:t>
            </a:r>
            <a:r>
              <a:rPr sz="1400">
                <a:solidFill>
                  <a:srgbClr val="1F2937"/>
                </a:solidFill>
                <a:latin typeface="Calibri"/>
              </a:rPr>
              <a:t>Voice replies in 19 languages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4002B"/>
                </a:solidFill>
                <a:latin typeface="Calibri"/>
              </a:rPr>
              <a:t>▌  </a:t>
            </a:r>
            <a:r>
              <a:rPr sz="1400">
                <a:solidFill>
                  <a:srgbClr val="1F2937"/>
                </a:solidFill>
                <a:latin typeface="Calibri"/>
              </a:rPr>
              <a:t>Zero LLM API key required for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526280"/>
            <a:ext cx="521208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617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🔊  MULTILINGUAL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3776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Spanish · Mandarin · Hindi · Tagalog · Arabic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85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Production: Azure Speech Service (HIPAA-compliant)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LIVE DEMONSTRATION  · 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GARMA — explainable risk scoring you can defend in front of a clinician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Six clinical factors, transparently weighted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demographic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756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Polypharmacy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≥ 5 active medications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65960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65960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Abnormal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out-of-range biomarkers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99232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99232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Drug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severity-weighted pairs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999232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999232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Chronic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564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comorbidity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999232"/>
            <a:ext cx="3657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999232"/>
            <a:ext cx="109728" cy="8686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A2540"/>
                </a:solidFill>
                <a:latin typeface="Calibri"/>
              </a:rPr>
              <a:t>Vital-sign 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564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recent deterioration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23360"/>
            <a:ext cx="11185855" cy="22402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1C9"/>
                </a:solidFill>
                <a:latin typeface="Calibri"/>
              </a:rPr>
              <a:t>GARMA flagged · severity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348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Warfarin  +  Aspirin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Risk: severe bleeding · GI hemorrhage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440680"/>
            <a:ext cx="5303520" cy="713232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48640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RECOMMENDATION → Review anticoagulation;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consider PPI; confirm INR within 7 days.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A DAY IN THE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Priya, an LTD nurse case manager — Monday morning, 8:00 a.m.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0" cy="84124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914400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417320"/>
            <a:ext cx="10180015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472184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Opens the cockpit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4650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Sees 250 claimants in her book, 47 critical alerts overnight, 18 drug interactions caught.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84248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4002B"/>
                </a:solidFill>
                <a:latin typeface="Calibri"/>
              </a:rPr>
              <a:t>→  5 seconds (vs 45 minutes in Excel today).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914400" cy="84124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914400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8:01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377440"/>
            <a:ext cx="10180015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432304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Asks JARVIS in plain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0662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“Find high-risk elderly patients on warfarin.”  →  10 ranked patients with risk scores.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44368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4002B"/>
                </a:solidFill>
                <a:latin typeface="Calibri"/>
              </a:rPr>
              <a:t>→  No SQL, no query builder, no analyst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914400" cy="84124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37560"/>
            <a:ext cx="914400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8:02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337560"/>
            <a:ext cx="10180015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3392424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Drills into the worst patient (GARMA)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6674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Brian Yang, 71M, risk 91 %.  GARMA radar shows polypharmacy + drug interaction as drivers.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04488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4002B"/>
                </a:solidFill>
                <a:latin typeface="Calibri"/>
              </a:rPr>
              <a:t>→  Decision-grade explanation, not a black-box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97680"/>
            <a:ext cx="914400" cy="84124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914400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8:03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297680"/>
            <a:ext cx="10180015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352544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Reads the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62686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Warfarin + Aspirin → severe bleeding risk.  GARMA recommends INR check + PPI within 7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864608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4002B"/>
                </a:solidFill>
                <a:latin typeface="Calibri"/>
              </a:rPr>
              <a:t>→  She picks up the phone and calls the treating physician.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57800"/>
            <a:ext cx="914400" cy="841248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57800"/>
            <a:ext cx="914400" cy="8412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8:05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257800"/>
            <a:ext cx="10180015" cy="84124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312664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2540"/>
                </a:solidFill>
                <a:latin typeface="Calibri"/>
              </a:rPr>
              <a:t>Documents and moves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58698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Downloads the clinician report, attaches it to the claim file, audit-trail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824728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4002B"/>
                </a:solidFill>
                <a:latin typeface="Calibri"/>
              </a:rPr>
              <a:t>→  Next claim — total elapsed time: 5 minutes.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HOW CUSTOMERS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Three concrete examples — same product, three lines of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554480" cy="155448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USE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4630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1 % conversion reduction = $15 – 30 M /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417320"/>
            <a:ext cx="9539935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50876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Group Benefits  ·  STD-to-LTD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920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0195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An LTD claim costs ~$80,000 average. We need to spot the convertors on day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58568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40280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Nurse types:  “Show STD claims week-3 with opioids and no return-to-work plan.”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060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4002B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8775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A2540"/>
                </a:solidFill>
                <a:latin typeface="Calibri"/>
              </a:rPr>
              <a:t>JARVIS returns 14 claimants → GARMA scores conversion risk → top 3 get nurse intervention.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63240"/>
            <a:ext cx="1554480" cy="1554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USE CASE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14630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Earlier intervention → ~25 % shorter claim duration on flagged cases.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063240"/>
            <a:ext cx="9539935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315468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Workers' Compensation  ·  catastrophic-claim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5661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54787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Opioid + benzodiazepine combinations are the #1 driver of WC claim escalation.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904488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886200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Claim handler asks:  “Which open WC claims have opioid + benzo prescriptions?”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251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A2540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3367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A2540"/>
                </a:solidFill>
                <a:latin typeface="Calibri"/>
              </a:rPr>
              <a:t>GARMA flags 9 claims with HIGH severity drug interactions → escalate to medical director.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1554480" cy="1554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USE CASE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4630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Throughput +25 % on APS-driven cases without adding headcount.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709160"/>
            <a:ext cx="9539935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480060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Life / Specialty Underwriting  ·  APS acceleration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21208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Pain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19379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Underwriters lose 30 – 60 minutes per Attending Physician Statement.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550408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532120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937"/>
                </a:solidFill>
                <a:latin typeface="Calibri"/>
              </a:rPr>
              <a:t>Underwriter asks NotebookLM:  “Any history of cardiac events in this APS?”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89788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4B8A6"/>
                </a:solidFill>
                <a:latin typeface="Calibri"/>
              </a:rPr>
              <a:t>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879592"/>
            <a:ext cx="8869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A2540"/>
                </a:solidFill>
                <a:latin typeface="Calibri"/>
              </a:rPr>
              <a:t>RAG returns the exact paragraph from the document with citation → bind decision in 5 min.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HARTFORD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Same architecture · three immediate Hartford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MedGuard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Group Benefits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Workers' Comp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41732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Life / Specialty UW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🤖  JARVIS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“Show LTD claimants with no RTW plan”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“Find catastrophic claims on opioids”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Underwriter NL search over 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111858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🛡️  GARMA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5176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STD → LTD conversion risk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Opioid / polypharmacy red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Mortality composite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11185855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📊  NotebookLM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RAG over IME and APS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9184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Treatment-note semantic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MIB / APS PDF retrieval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0480"/>
            <a:ext cx="111858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📈  Cockpit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3192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Nurse case-manager triage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Claim-handler severity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93192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Underwriter 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A2540"/>
                </a:solidFill>
                <a:latin typeface="Calibri"/>
              </a:rPr>
              <a:t>Estimated value (industry benchmarks)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49240"/>
            <a:ext cx="3657600" cy="91440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$15 – 30M / 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from a 1% LTD-duration reduction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349240"/>
            <a:ext cx="365760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440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25 % faster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852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underwriter case review cycle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5349240"/>
            <a:ext cx="3657600" cy="914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5440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5 – 10 %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8521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call-center deflection via voice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C9"/>
                </a:solidFill>
                <a:latin typeface="Calibri"/>
              </a:rPr>
              <a:t>PATH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From hackathon prototype to Hartford-grade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77240" cy="71323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772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554480"/>
            <a:ext cx="10317176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62763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Replace synthetic generator with Guidewire ClaimCenter, APS feeds, Rx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777240" cy="71323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7772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423160"/>
            <a:ext cx="10317176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Enterprise AI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0720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Azure OpenAI + Azure Translator / Speech (existing Hartford licenses)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777240" cy="71323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7772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291840"/>
            <a:ext cx="10317176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36499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758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Hartford SSO · PHI guardrails · audit logging · HITRUST · HIPAA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19"/>
            <a:ext cx="777240" cy="71323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0519"/>
            <a:ext cx="7772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160519"/>
            <a:ext cx="10317176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233671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44567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Azure App Service / AKS behind Zscaler · zero data egress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29200"/>
            <a:ext cx="777240" cy="71323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9200"/>
            <a:ext cx="7772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029200"/>
            <a:ext cx="10317176" cy="7132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510235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A2540"/>
                </a:solidFill>
                <a:latin typeface="Calibri"/>
              </a:rPr>
              <a:t>Model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1324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Register GARMA in Hartford AI Model Risk inventory · NAIC-aligned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1C9"/>
                </a:solidFill>
                <a:latin typeface="Calibri"/>
              </a:rPr>
              <a:t>MEDGUARD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A pattern, not just a prototype.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2194560" cy="457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Four modules · one architecture · zero vendor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End-to-end working demo in five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233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Re-applicable across Disability, Workers' Comp, Underwriting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11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B8A6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26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Clear path to Azure-hosted, HIPAA-compliant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Calibri"/>
              </a:rPr>
              <a:t>Questions?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548640" cy="3200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MedGuard AI  ·  The Hartford  ·  Confidential — for internal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547104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